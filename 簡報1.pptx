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7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121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D4A2E88-E687-4DA8-A420-F843B9C5EF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278CC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341B1EA9-39FE-47CD-A241-1F685B0102D0}"/>
              </a:ext>
            </a:extLst>
          </p:cNvPr>
          <p:cNvSpPr>
            <a:spLocks noGrp="1"/>
          </p:cNvSpPr>
          <p:nvPr/>
        </p:nvSpPr>
        <p:spPr>
          <a:xfrm rot="-1080000">
            <a:off x="628650" y="666750"/>
            <a:ext cx="1428750" cy="1047750"/>
          </a:xfrm>
          <a:prstGeom prst="triangle">
            <a:avLst/>
          </a:prstGeom>
          <a:solidFill>
            <a:srgbClr val="DFF3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D6E16961-4F30-41D9-BF75-39D201D37734}"/>
              </a:ext>
            </a:extLst>
          </p:cNvPr>
          <p:cNvSpPr>
            <a:spLocks noGrp="1"/>
          </p:cNvSpPr>
          <p:nvPr/>
        </p:nvSpPr>
        <p:spPr>
          <a:xfrm rot="1680000">
            <a:off x="10039350" y="171450"/>
            <a:ext cx="1476375" cy="1714500"/>
          </a:xfrm>
          <a:prstGeom prst="triangle">
            <a:avLst/>
          </a:prstGeom>
          <a:solidFill>
            <a:srgbClr val="8CCFE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35B5AF63-C09D-4757-9E54-3BB8BF9EBB79}"/>
              </a:ext>
            </a:extLst>
          </p:cNvPr>
          <p:cNvSpPr>
            <a:spLocks noGrp="1"/>
          </p:cNvSpPr>
          <p:nvPr/>
        </p:nvSpPr>
        <p:spPr>
          <a:xfrm rot="720000">
            <a:off x="10572750" y="4724400"/>
            <a:ext cx="1190625" cy="1476375"/>
          </a:xfrm>
          <a:prstGeom prst="triangle">
            <a:avLst/>
          </a:prstGeom>
          <a:solidFill>
            <a:srgbClr val="DFF3FF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AF8042-A90E-4568-83BB-A53268C36808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rPr>
              <a:t>FULL-STACK SOCIAL PLATFORM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94BE97-3261-4DF3-A356-7562AD38189B}"/>
              </a:ext>
            </a:extLst>
          </p:cNvPr>
          <p:cNvSpPr>
            <a:spLocks noGrp="1"/>
          </p:cNvSpPr>
          <p:nvPr/>
        </p:nvSpPr>
        <p:spPr>
          <a:xfrm>
            <a:off x="742950" y="1485900"/>
            <a:ext cx="4762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25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rPr>
              <a:t>Link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D4267A-EA2D-48C7-850D-3362867DD240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1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278CCF"/>
                </a:solidFill>
                <a:latin typeface="Microsoft JhengHei"/>
                <a:ea typeface="Microsoft JhengHei"/>
                <a:cs typeface="Microsoft JhengHei"/>
              </a:rPr>
              <a:t>交友平台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4F1F79-742C-4D76-84BA-1EB88A9EE6C8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4000500" cy="47625"/>
          </a:xfrm>
          <a:prstGeom prst="rect">
            <a:avLst/>
          </a:prstGeom>
          <a:solidFill>
            <a:srgbClr val="FF6B5E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3833F1-B96D-4FFB-86BF-3F38B8642292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504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rPr>
              <a:t>從全端技術整合到可操作的社群平台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1699E9-70BD-4A15-BD15-D5092CCD7FA2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15324A"/>
                </a:solidFill>
                <a:latin typeface="Microsoft JhengHei"/>
                <a:ea typeface="Microsoft JhengHei"/>
                <a:cs typeface="Microsoft JhengHei"/>
              </a:rPr>
              <a:t>聯成電腦｜宏碁創達資訊工程師產學 A 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509B5F-5CB6-499C-AFBC-C77FC441B7C2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07485"/>
                </a:solidFill>
                <a:latin typeface="Microsoft JhengHei"/>
                <a:ea typeface="Microsoft JhengHei"/>
                <a:cs typeface="Microsoft JhengHei"/>
              </a:rPr>
              <a:t>組長 洪睿杰　組員 黃偉銓、郭子寧、組員人、陶敬堯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B08926-D2DE-4F42-AE45-ADDD9ADFB33C}"/>
              </a:ext>
            </a:extLst>
          </p:cNvPr>
          <p:cNvSpPr>
            <a:spLocks noGrp="1"/>
          </p:cNvSpPr>
          <p:nvPr/>
        </p:nvSpPr>
        <p:spPr>
          <a:xfrm>
            <a:off x="7686675" y="628650"/>
            <a:ext cx="3143250" cy="5562600"/>
          </a:xfrm>
          <a:prstGeom prst="rect">
            <a:avLst/>
          </a:prstGeom>
          <a:solidFill>
            <a:srgbClr val="F4FAFD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1392844"/>
            <a:ext cx="3009900" cy="40342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0BCAA7E-988E-4779-98EB-DD69B74D2D49}"/>
              </a:ext>
            </a:extLst>
          </p:cNvPr>
          <p:cNvSpPr>
            <a:spLocks noGrp="1"/>
          </p:cNvSpPr>
          <p:nvPr/>
        </p:nvSpPr>
        <p:spPr>
          <a:xfrm>
            <a:off x="762000" y="61912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FF6B5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FF6B5E"/>
                </a:solidFill>
                <a:latin typeface="Microsoft JhengHei"/>
                <a:ea typeface="Microsoft JhengHei"/>
                <a:cs typeface="Microsoft JhengHei"/>
              </a:rPr>
              <a:t>專題簡報</a:t>
            </a:r>
          </a:p>
        </p:txBody>
      </p:sp>
    </p:spTree>
    <p:extLst>
      <p:ext uri="{BB962C8B-B14F-4D97-AF65-F5344CB8AC3E}">
        <p14:creationId xmlns:p14="http://schemas.microsoft.com/office/powerpoint/2010/main" val="1959252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278CCF"/>
                </a:solidFill>
                <a:latin typeface="Microsoft JhengHei"/>
              </a:rPr>
              <a:t>02  /  目錄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2850" b="1">
                <a:solidFill>
                  <a:srgbClr val="15324A"/>
                </a:solidFill>
                <a:latin typeface="Microsoft JhengHei"/>
              </a:rPr>
              <a:t>九個章節預留文字與圖片版面</a:t>
            </a:r>
            <a:endParaRPr sz="2850" b="1">
              <a:solidFill>
                <a:srgbClr val="15324A"/>
              </a:solidFill>
              <a:latin typeface="Microsoft JhengHe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34600" y="371475"/>
            <a:ext cx="10382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CONTENTS</a:t>
            </a:r>
            <a:r>
              <a:rPr lang="en-US" sz="900" b="1">
                <a:solidFill>
                  <a:srgbClr val="FF6B5E"/>
                </a:solidFill>
                <a:latin typeface="Microsoft JhengHei"/>
              </a:rPr>
              <a:t> · I–IX</a:t>
            </a:r>
            <a:endParaRPr sz="900" b="1">
              <a:solidFill>
                <a:srgbClr val="FF6B5E"/>
              </a:solidFill>
              <a:latin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Link 交友平台｜簡報目錄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0900" y="6496050"/>
            <a:ext cx="4953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1">
                <a:solidFill>
                  <a:srgbClr val="278CCF"/>
                </a:solidFill>
                <a:latin typeface="Microsoft JhengHei"/>
              </a:rPr>
              <a:t>02</a:t>
            </a:r>
          </a:p>
        </p:txBody>
      </p:sp>
      <p:sp>
        <p:nvSpPr>
          <p:cNvPr id="31" name="Isosceles Triangle 30"/>
          <p:cNvSpPr/>
          <p:nvPr/>
        </p:nvSpPr>
        <p:spPr>
          <a:xfrm rot="1320000">
            <a:off x="11390000" y="1500000"/>
            <a:ext cx="500000" cy="43000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762000" y="18478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>
                <a:solidFill>
                  <a:srgbClr val="278CCF"/>
                </a:solidFill>
                <a:latin typeface="Microsoft JhengHei"/>
              </a:rPr>
              <a:t>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18859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09750" y="18478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摘要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3500" y="18669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3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809750" y="23622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2000" y="26479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II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200" y="26860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09750" y="26479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前言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3500" y="26670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4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1809750" y="31623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2000" y="34480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FF6B5E"/>
                </a:solidFill>
                <a:latin typeface="Microsoft JhengHei"/>
              </a:rPr>
              <a:t>III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00200" y="3486150"/>
            <a:ext cx="19050" cy="3429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09750" y="34480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系統開發與規劃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3500" y="34671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5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809750" y="39624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2000" y="42481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IV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42862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809750" y="42481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系統架構圖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43500" y="42672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6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809750" y="47625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62000" y="50482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00200" y="50863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809750" y="50482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系統流程圖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3500" y="50673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7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477000" y="18478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VI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18859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24750" y="18478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資料庫關聯圖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58500" y="18669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8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524750" y="23622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77000" y="26479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VII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26860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24750" y="26479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專案功能架構圖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58500" y="26670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9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7524750" y="31623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77000" y="34480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FF6B5E"/>
                </a:solidFill>
                <a:latin typeface="Microsoft JhengHei"/>
              </a:rPr>
              <a:t>VIII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15200" y="3486150"/>
            <a:ext cx="19050" cy="3429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524750" y="34480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程式&amp;成品展示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58500" y="34671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10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524750" y="39624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77000" y="4248150"/>
            <a:ext cx="76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278CCF"/>
                </a:solidFill>
                <a:latin typeface="Microsoft JhengHei"/>
              </a:rPr>
              <a:t>IX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4286250"/>
            <a:ext cx="19050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24750" y="4248150"/>
            <a:ext cx="323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>
                <a:solidFill>
                  <a:srgbClr val="15324A"/>
                </a:solidFill>
                <a:latin typeface="Microsoft JhengHei"/>
              </a:rPr>
              <a:t>未來展望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858500" y="4267200"/>
            <a:ext cx="6477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1100" b="1">
                <a:solidFill>
                  <a:srgbClr val="278CCF"/>
                </a:solidFill>
                <a:latin typeface="Microsoft JhengHei"/>
              </a:rPr>
              <a:t>11</a:t>
            </a:r>
            <a:endParaRPr sz="1100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524750" y="4762500"/>
            <a:ext cx="3810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03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34222"/>
            <a:ext cx="10515600" cy="3694473"/>
          </a:xfrm>
          <a:prstGeom prst="rect">
            <a:avLst/>
          </a:prstGeom>
          <a:noFill/>
        </p:spPr>
        <p:txBody>
          <a:bodyPr wrap="square" lIns="0" tIns="95250" rIns="0" bIns="0" anchor="t">
            <a:spAutoFit/>
          </a:bodyPr>
          <a:lstStyle/>
          <a:p>
            <a:pPr algn="just">
              <a:lnSpc>
                <a:spcPct val="200000"/>
              </a:lnSpc>
              <a:spcAft>
                <a:spcPts val="1200"/>
              </a:spcAft>
            </a:pP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本系統採用 </a:t>
            </a:r>
            <a:r>
              <a:rPr lang="en-US" altLang="zh-TW" sz="2000" b="0" dirty="0">
                <a:solidFill>
                  <a:srgbClr val="15324A"/>
                </a:solidFill>
                <a:latin typeface="Microsoft JhengHei"/>
              </a:rPr>
              <a:t>HTML</a:t>
            </a: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、</a:t>
            </a:r>
            <a:r>
              <a:rPr lang="en-US" altLang="zh-TW" sz="2000" b="0" dirty="0">
                <a:solidFill>
                  <a:srgbClr val="15324A"/>
                </a:solidFill>
                <a:latin typeface="Microsoft JhengHei"/>
              </a:rPr>
              <a:t>CSS </a:t>
            </a: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與 </a:t>
            </a:r>
            <a:r>
              <a:rPr lang="en-US" altLang="zh-TW" sz="2000" b="0" dirty="0">
                <a:solidFill>
                  <a:srgbClr val="15324A"/>
                </a:solidFill>
                <a:latin typeface="Microsoft JhengHei"/>
              </a:rPr>
              <a:t>JavaScript </a:t>
            </a:r>
            <a:r>
              <a:rPr lang="zh-TW" altLang="en-US" sz="2000" b="0" dirty="0">
                <a:solidFill>
                  <a:srgbClr val="15324A"/>
                </a:solidFill>
                <a:latin typeface="Microsoft JhengHei"/>
              </a:rPr>
              <a:t>等技術進行開發，並結合資料庫進行資料管理，透過全端開發整合使用者介面、系統功能與資料傳遞，建構具備良好操作性與完整性的社群平台。本報告將介紹系統開發與規劃、系統架構圖、系統流程圖、資料庫關聯圖、專案功能架構圖，以及程式碼與成品展示，並於最後提出未來可擴充的功能與改善方向。透過本專題的實作，期望能深入了解全端系統開發流程，並累積網頁設計、程式撰寫、資料庫應用與系統整合等實務經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03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04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前言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71725"/>
            <a:ext cx="10515600" cy="1720086"/>
          </a:xfrm>
          <a:prstGeom prst="rect">
            <a:avLst/>
          </a:prstGeom>
          <a:noFill/>
        </p:spPr>
        <p:txBody>
          <a:bodyPr wrap="square" lIns="0" tIns="190500" rIns="0" bIns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300" b="0" dirty="0">
                <a:solidFill>
                  <a:srgbClr val="15324A"/>
                </a:solidFill>
                <a:latin typeface="Microsoft JhengHei"/>
              </a:rPr>
              <a:t>隨著社群平台的普及，使用者每天會接觸大量的貼文、新聞、留言與討論內容。資訊數量快速增加，使使用者難以在短時間內掌握重要訊息，也容易受到重複或冗長內容的影響。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04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05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系統開發與規劃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系統開發與規劃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05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1905000"/>
            <a:ext cx="4191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278CCF"/>
                </a:solidFill>
                <a:latin typeface="Microsoft JhengHei"/>
              </a:rPr>
              <a:t>開發環境與技術</a:t>
            </a:r>
            <a:endParaRPr sz="1600" b="1" dirty="0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2000" y="24193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78CCF"/>
                </a:solidFill>
                <a:latin typeface="Microsoft JhengHei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" y="24193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7485"/>
                </a:solidFill>
                <a:latin typeface="Microsoft JhengHei"/>
              </a:rPr>
              <a:t>開發工具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" y="27622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Visual Studio</a:t>
            </a:r>
          </a:p>
        </p:txBody>
      </p:sp>
      <p:sp>
        <p:nvSpPr>
          <p:cNvPr id="26" name="Rectangle 25"/>
          <p:cNvSpPr/>
          <p:nvPr/>
        </p:nvSpPr>
        <p:spPr>
          <a:xfrm flipV="1">
            <a:off x="1524000" y="3268981"/>
            <a:ext cx="3238500" cy="45719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2000" y="33718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78CCF"/>
                </a:solidFill>
                <a:latin typeface="Microsoft Jheng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33718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 err="1">
                <a:solidFill>
                  <a:srgbClr val="607485"/>
                </a:solidFill>
                <a:latin typeface="Microsoft JhengHei"/>
              </a:rPr>
              <a:t>部署環境與資料庫</a:t>
            </a:r>
            <a:endParaRPr sz="1200" b="1" dirty="0">
              <a:solidFill>
                <a:srgbClr val="607485"/>
              </a:solidFill>
              <a:latin typeface="Microsoft Jheng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24000" y="37147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Azure / SQL Server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4000" y="4267200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2000" y="43243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6B5E"/>
                </a:solidFill>
                <a:latin typeface="Microsoft Jheng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" y="43243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7485"/>
                </a:solidFill>
                <a:latin typeface="Microsoft JhengHei"/>
              </a:rPr>
              <a:t>系統框架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" y="46672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待補充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24000" y="5219700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000" y="527685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278CCF"/>
                </a:solidFill>
                <a:latin typeface="Microsoft Jheng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" y="5276850"/>
            <a:ext cx="2190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07485"/>
                </a:solidFill>
                <a:latin typeface="Microsoft JhengHei"/>
              </a:rPr>
              <a:t>程式語言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" y="5619750"/>
            <a:ext cx="3238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5324A"/>
                </a:solidFill>
                <a:latin typeface="Microsoft JhengHei"/>
              </a:rPr>
              <a:t>Python、C#、HTML、CSS、JavaScript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43500" y="1905000"/>
            <a:ext cx="19050" cy="38100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24500" y="1905000"/>
            <a:ext cx="5715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1600" b="1" dirty="0">
                <a:solidFill>
                  <a:srgbClr val="278CCF"/>
                </a:solidFill>
                <a:latin typeface="Microsoft JhengHei"/>
              </a:rPr>
              <a:t>前端開發</a:t>
            </a:r>
            <a:endParaRPr sz="1600" b="1" dirty="0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24500" y="232410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在此輸入補充說明或條列內容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24500" y="283845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524500" y="331470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524500" y="379095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524500" y="4057650"/>
            <a:ext cx="5715000" cy="28575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24500" y="4286250"/>
            <a:ext cx="5715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1600" b="1" dirty="0">
                <a:solidFill>
                  <a:srgbClr val="278CCF"/>
                </a:solidFill>
                <a:latin typeface="Microsoft JhengHei"/>
              </a:rPr>
              <a:t>後端開發</a:t>
            </a:r>
            <a:endParaRPr sz="1600" b="1" dirty="0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524500" y="4705350"/>
            <a:ext cx="571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在此輸入另一組重點文字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24500" y="521970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524500" y="5695950"/>
            <a:ext cx="57150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06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系統架構圖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系統架構圖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IV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50" y="2114550"/>
            <a:ext cx="9944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278CCF"/>
                </a:solidFill>
                <a:latin typeface="Microsoft JhengHei"/>
              </a:rPr>
              <a:t>系統架構圖預留區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590800"/>
            <a:ext cx="9372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DA3B2"/>
                </a:solidFill>
                <a:latin typeface="Microsoft JhengHei"/>
              </a:rPr>
              <a:t>放置元件、服務與資料層關係圖</a:t>
            </a:r>
          </a:p>
        </p:txBody>
      </p:sp>
      <p:sp>
        <p:nvSpPr>
          <p:cNvPr id="10" name="Oval 9"/>
          <p:cNvSpPr/>
          <p:nvPr/>
        </p:nvSpPr>
        <p:spPr>
          <a:xfrm>
            <a:off x="2444496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78552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12608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500" y="4819650"/>
            <a:ext cx="9372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請在此插入完整圖面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在此輸入重點文字、說明或條列內容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06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07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系統流程圖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系統流程圖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50" y="2114550"/>
            <a:ext cx="9944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278CCF"/>
                </a:solidFill>
                <a:latin typeface="Microsoft JhengHei"/>
              </a:rPr>
              <a:t>系統流程圖預留區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590800"/>
            <a:ext cx="9372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DA3B2"/>
                </a:solidFill>
                <a:latin typeface="Microsoft JhengHei"/>
              </a:rPr>
              <a:t>放置操作步驟、判斷與例外路徑</a:t>
            </a:r>
          </a:p>
        </p:txBody>
      </p:sp>
      <p:sp>
        <p:nvSpPr>
          <p:cNvPr id="10" name="Oval 9"/>
          <p:cNvSpPr/>
          <p:nvPr/>
        </p:nvSpPr>
        <p:spPr>
          <a:xfrm>
            <a:off x="2444496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78552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12608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500" y="4819650"/>
            <a:ext cx="9372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請在此插入完整圖面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在此輸入重點文字、說明或條列內容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07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08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資料庫關聯圖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資料庫關聯圖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50" y="2114550"/>
            <a:ext cx="9944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278CCF"/>
                </a:solidFill>
                <a:latin typeface="Microsoft JhengHei"/>
              </a:rPr>
              <a:t>資料庫關聯圖預留區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590800"/>
            <a:ext cx="9372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DA3B2"/>
                </a:solidFill>
                <a:latin typeface="Microsoft JhengHei"/>
              </a:rPr>
              <a:t>放置資料表、主外鍵與關聯基數</a:t>
            </a:r>
          </a:p>
        </p:txBody>
      </p:sp>
      <p:sp>
        <p:nvSpPr>
          <p:cNvPr id="10" name="Oval 9"/>
          <p:cNvSpPr/>
          <p:nvPr/>
        </p:nvSpPr>
        <p:spPr>
          <a:xfrm>
            <a:off x="2444496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78552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12608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500" y="4819650"/>
            <a:ext cx="9372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請在此插入完整圖面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在此輸入重點文字、說明或條列內容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08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09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專案功能架構圖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專案功能架構圖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1847850"/>
            <a:ext cx="10515600" cy="35052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50" y="2114550"/>
            <a:ext cx="99441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278CCF"/>
                </a:solidFill>
                <a:latin typeface="Microsoft JhengHei"/>
              </a:rPr>
              <a:t>專案功能架構圖預留區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590800"/>
            <a:ext cx="9372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8DA3B2"/>
                </a:solidFill>
                <a:latin typeface="Microsoft JhengHei"/>
              </a:rPr>
              <a:t>放置模組、子功能與層級關係</a:t>
            </a:r>
          </a:p>
        </p:txBody>
      </p:sp>
      <p:sp>
        <p:nvSpPr>
          <p:cNvPr id="10" name="Oval 9"/>
          <p:cNvSpPr/>
          <p:nvPr/>
        </p:nvSpPr>
        <p:spPr>
          <a:xfrm>
            <a:off x="2444496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178552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12608" y="3775710"/>
            <a:ext cx="762000" cy="438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7D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500" y="4819650"/>
            <a:ext cx="9372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請在此插入完整圖面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543550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圖面說明文字區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2455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在此輸入重點文字、說明或條列內容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362700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09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10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程式&amp;成品展示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程式 &amp; 成品展示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VIII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905000"/>
            <a:ext cx="323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78CCF"/>
                </a:solidFill>
                <a:latin typeface="Microsoft JhengHei"/>
              </a:rPr>
              <a:t>程式說明文字區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86000"/>
            <a:ext cx="3238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8DA3B2"/>
                </a:solidFill>
                <a:latin typeface="Microsoft JhengHei"/>
              </a:rPr>
              <a:t>在此輸入重點文字、說明或條列內容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2724150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2000" y="3471862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4219574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2000" y="4967286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2000" y="5714998"/>
            <a:ext cx="32385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1500" y="1905000"/>
            <a:ext cx="3238500" cy="38100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91200" y="3562350"/>
            <a:ext cx="419100" cy="342900"/>
          </a:xfrm>
          <a:prstGeom prst="rect">
            <a:avLst/>
          </a:prstGeom>
          <a:noFill/>
          <a:ln w="15240">
            <a:solidFill>
              <a:srgbClr val="8C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>
            <a:off x="5848350" y="3638550"/>
            <a:ext cx="304800" cy="2095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7250" y="401955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78CCF"/>
                </a:solidFill>
                <a:latin typeface="Microsoft JhengHei"/>
              </a:rPr>
              <a:t>程式碼截圖區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7250" y="43434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插入關鍵程式碼截圖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905000"/>
            <a:ext cx="3238500" cy="3810000"/>
          </a:xfrm>
          <a:prstGeom prst="rect">
            <a:avLst/>
          </a:prstGeom>
          <a:solidFill>
            <a:srgbClr val="F4FAFD"/>
          </a:solidFill>
          <a:ln w="19050">
            <a:solidFill>
              <a:srgbClr val="8CCFE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0700" y="3562350"/>
            <a:ext cx="419100" cy="342900"/>
          </a:xfrm>
          <a:prstGeom prst="rect">
            <a:avLst/>
          </a:prstGeom>
          <a:noFill/>
          <a:ln w="15240">
            <a:solidFill>
              <a:srgbClr val="8CC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>
            <a:off x="9467850" y="3638550"/>
            <a:ext cx="304800" cy="2095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6750" y="4019550"/>
            <a:ext cx="2667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278CCF"/>
                </a:solidFill>
                <a:latin typeface="Microsoft JhengHei"/>
              </a:rPr>
              <a:t>成品畫面區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0" y="4343400"/>
            <a:ext cx="2667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DA3B2"/>
                </a:solidFill>
                <a:latin typeface="Microsoft JhengHei"/>
              </a:rPr>
              <a:t>插入完成介面或操作畫面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5100"/>
            <a:ext cx="9334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07485"/>
                </a:solidFill>
                <a:latin typeface="Microsoft JhengHei"/>
              </a:rPr>
              <a:t>內容預留版面｜請替換提示文字與圖片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10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42900"/>
            <a:ext cx="3429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TW" sz="1050" b="1">
                <a:solidFill>
                  <a:srgbClr val="278CCF"/>
                </a:solidFill>
                <a:latin typeface="Microsoft JhengHei"/>
              </a:rPr>
              <a:t>11</a:t>
            </a:r>
            <a:r>
              <a:rPr sz="1050" b="1">
                <a:solidFill>
                  <a:srgbClr val="278CCF"/>
                </a:solidFill>
                <a:latin typeface="Microsoft JhengHei"/>
              </a:rPr>
              <a:t>  /  未來展望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287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>
                <a:solidFill>
                  <a:srgbClr val="15324A"/>
                </a:solidFill>
                <a:latin typeface="Microsoft JhengHei"/>
              </a:rPr>
              <a:t>未來展望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6850"/>
            <a:ext cx="108204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0" y="371475"/>
            <a:ext cx="571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>
                <a:solidFill>
                  <a:srgbClr val="FF6B5E"/>
                </a:solidFill>
                <a:latin typeface="Microsoft JhengHei"/>
              </a:rPr>
              <a:t>IX</a:t>
            </a:r>
          </a:p>
        </p:txBody>
      </p:sp>
      <p:sp>
        <p:nvSpPr>
          <p:cNvPr id="6" name="Isosceles Triangle 5"/>
          <p:cNvSpPr/>
          <p:nvPr/>
        </p:nvSpPr>
        <p:spPr>
          <a:xfrm rot="1320000">
            <a:off x="11277600" y="1533525"/>
            <a:ext cx="419100" cy="438150"/>
          </a:xfrm>
          <a:prstGeom prst="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10900" y="6496050"/>
            <a:ext cx="4953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altLang="zh-TW" sz="825" b="1">
                <a:solidFill>
                  <a:srgbClr val="278CCF"/>
                </a:solidFill>
                <a:latin typeface="Microsoft JhengHei"/>
              </a:rPr>
              <a:t>11</a:t>
            </a:r>
            <a:endParaRPr sz="825" b="1">
              <a:solidFill>
                <a:srgbClr val="278CCF"/>
              </a:solidFill>
              <a:latin typeface="Microsoft JhengHe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2000" y="1819275"/>
            <a:ext cx="1714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78CCF"/>
                </a:solidFill>
                <a:latin typeface="Microsoft JhengHei"/>
              </a:rPr>
              <a:t>發展方向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1717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15324A"/>
                </a:solidFill>
                <a:latin typeface="Microsoft JhengHei"/>
              </a:rPr>
              <a:t>本專題目前已完成社群平台的基本架構與相關功能，未來將持續針對系統功能、使用者體驗及整體效能進行改善與擴充，提升平台的實用性與完整性。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2933700"/>
            <a:ext cx="10515600" cy="28575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000" y="323850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78CCF"/>
                </a:solidFill>
                <a:latin typeface="Microsoft JhengHei"/>
              </a:rPr>
              <a:t>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6850" y="3276600"/>
            <a:ext cx="28575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76400" y="3238500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功能擴充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76400" y="3657600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依照使用者需求增加好友管理、即時聊天、通知提醒、圖片或影音分享等功能，提供更多元的互動方式。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38500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78CCF"/>
                </a:solidFill>
                <a:latin typeface="Microsoft JhengHei"/>
              </a:rPr>
              <a:t>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05650" y="3276600"/>
            <a:ext cx="28575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3238500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使用者體驗優化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657600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持續改善網站介面、操作流程及響應式網頁，使系統適應不同裝置與螢幕尺寸，提升使用便利性。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4505325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6B5E"/>
                </a:solidFill>
                <a:latin typeface="Microsoft JhengHei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6850" y="4543425"/>
            <a:ext cx="28575" cy="342900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676400" y="4505325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系統安全強化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76400" y="4924425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加強使用者資料保護、登入驗證、權限管理及資料傳輸安全，降低資料外洩與未授權存取風險。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505325"/>
            <a:ext cx="571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278CCF"/>
                </a:solidFill>
                <a:latin typeface="Microsoft JhengHei"/>
              </a:rPr>
              <a:t>04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05650" y="4543425"/>
            <a:ext cx="28575" cy="342900"/>
          </a:xfrm>
          <a:prstGeom prst="rect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0" y="4505325"/>
            <a:ext cx="4191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5324A"/>
                </a:solidFill>
                <a:latin typeface="Microsoft JhengHei"/>
              </a:rPr>
              <a:t>系統效能與穩定性提升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924425"/>
            <a:ext cx="41910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07485"/>
                </a:solidFill>
                <a:latin typeface="Microsoft JhengHei"/>
              </a:rPr>
              <a:t>透過程式碼優化、資料庫查詢改善及系統測試，提高執行效率與穩定性，確保良好操作體驗。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2000" y="5743575"/>
            <a:ext cx="10515600" cy="19050"/>
          </a:xfrm>
          <a:prstGeom prst="rect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2000" y="5962650"/>
            <a:ext cx="105156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24A"/>
                </a:solidFill>
                <a:latin typeface="Microsoft JhengHei"/>
              </a:rPr>
              <a:t>透過上述方向持續改進，期望將本系統發展為功能更完整、操作更便利且具備良好安全性的社群平台。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78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9646920" y="164592"/>
            <a:ext cx="1325880" cy="1325880"/>
          </a:xfrm>
          <a:prstGeom prst="rt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ght Triangle 3"/>
          <p:cNvSpPr/>
          <p:nvPr/>
        </p:nvSpPr>
        <p:spPr>
          <a:xfrm rot="10800000">
            <a:off x="10222992" y="164592"/>
            <a:ext cx="749808" cy="1024128"/>
          </a:xfrm>
          <a:prstGeom prst="rtTriangle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10442448" y="5230368"/>
            <a:ext cx="530352" cy="1078992"/>
          </a:xfrm>
          <a:prstGeom prst="rtTriangl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Triangle 5"/>
          <p:cNvSpPr/>
          <p:nvPr/>
        </p:nvSpPr>
        <p:spPr>
          <a:xfrm>
            <a:off x="9921240" y="5742432"/>
            <a:ext cx="530352" cy="566928"/>
          </a:xfrm>
          <a:prstGeom prst="rtTriangle">
            <a:avLst/>
          </a:prstGeom>
          <a:solidFill>
            <a:srgbClr val="8CC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25880" y="1325880"/>
            <a:ext cx="84124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78CCF"/>
                </a:solidFill>
                <a:latin typeface="Microsoft JhengHei"/>
              </a:rPr>
              <a:t>LINK SOCIAL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87782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5324A"/>
                </a:solidFill>
                <a:latin typeface="Microsoft JhengHei"/>
              </a:rPr>
              <a:t>謝謝觀看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2926080"/>
            <a:ext cx="2148840" cy="41148"/>
          </a:xfrm>
          <a:prstGeom prst="rect">
            <a:avLst/>
          </a:prstGeom>
          <a:solidFill>
            <a:srgbClr val="FF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182112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78CCF"/>
                </a:solidFill>
                <a:latin typeface="Microsoft JhengHei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85615"/>
            <a:ext cx="87782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07485"/>
                </a:solidFill>
                <a:latin typeface="Microsoft JhengHei"/>
              </a:rPr>
              <a:t>Link 交友平台｜全端系統開發專題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2531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6B5E"/>
                </a:solidFill>
                <a:latin typeface="Microsoft JhengHei"/>
              </a:rPr>
              <a:t>專題簡報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0464" y="592531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78CCF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33</TotalTime>
  <Words>465</Words>
  <Application>Microsoft Office PowerPoint</Application>
  <PresentationFormat>寬螢幕</PresentationFormat>
  <Paragraphs>146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4" baseType="lpstr">
      <vt:lpstr>Microsoft JhengHei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敬堯 陶</dc:creator>
  <cp:lastModifiedBy>敬堯 陶</cp:lastModifiedBy>
  <cp:revision>2</cp:revision>
  <dcterms:created xsi:type="dcterms:W3CDTF">2026-09-13T03:53:52Z</dcterms:created>
  <dcterms:modified xsi:type="dcterms:W3CDTF">2026-09-13T04:27:10Z</dcterms:modified>
</cp:coreProperties>
</file>